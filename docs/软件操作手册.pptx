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731520"/>
            <a:ext cx="1078992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114300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467E6"/>
                </a:solidFill>
                <a:latin typeface="Microsoft YaHei"/>
              </a:rPr>
              <a:t>CATL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314C"/>
                </a:solidFill>
                <a:latin typeface="Microsoft YaHei"/>
              </a:rPr>
              <a:t>易损件防呆管控系统
软件操作手册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65760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17596"/>
                </a:solidFill>
                <a:latin typeface="Microsoft YaHei"/>
              </a:rPr>
              <a:t>适用对象：操作员 / 设备维护人员 / ME、PRD 负责人 / 系统管理员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57200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C757D"/>
                </a:solidFill>
                <a:latin typeface="Microsoft YaHei"/>
              </a:rPr>
              <a:t>基于当前软件逻辑与界面截图整理，覆盖完整业务操作顺序与功能说明。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推荐操作逻辑顺序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先配置设备，再维护主数据，最后进入登录与更换闭环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1078992" cy="566928"/>
          </a:xfrm>
          <a:prstGeom prst="round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启动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91640" y="1673351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37943" y="1508760"/>
            <a:ext cx="1078992" cy="566928"/>
          </a:xfrm>
          <a:prstGeom prst="round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设备配置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35223" y="1673351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81527" y="1508760"/>
            <a:ext cx="1078992" cy="566928"/>
          </a:xfrm>
          <a:prstGeom prst="roundRect">
            <a:avLst/>
          </a:prstGeom>
          <a:solidFill>
            <a:srgbClr val="14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PLC 测试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78807" y="1673351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508760"/>
            <a:ext cx="1078992" cy="566928"/>
          </a:xfrm>
          <a:prstGeom prst="round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用户配置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22392" y="1673351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68696" y="1508760"/>
            <a:ext cx="1078992" cy="566928"/>
          </a:xfrm>
          <a:prstGeom prst="round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主数据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65975" y="1673351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12279" y="1508760"/>
            <a:ext cx="1078992" cy="566928"/>
          </a:xfrm>
          <a:prstGeom prst="roundRect">
            <a:avLst/>
          </a:prstGeom>
          <a:solidFill>
            <a:srgbClr val="14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开启监控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09559" y="1673351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55864" y="1508760"/>
            <a:ext cx="1078992" cy="566928"/>
          </a:xfrm>
          <a:prstGeom prst="roundRect">
            <a:avLst/>
          </a:prstGeom>
          <a:solidFill>
            <a:srgbClr val="E88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登录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153144" y="1673351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99448" y="1508760"/>
            <a:ext cx="1078992" cy="566928"/>
          </a:xfrm>
          <a:prstGeom prst="round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更换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396728" y="1673351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43032" y="1508760"/>
            <a:ext cx="1078992" cy="566928"/>
          </a:xfrm>
          <a:prstGeom prst="roundRect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追溯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2377440"/>
            <a:ext cx="53949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2487168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14C"/>
                </a:solidFill>
                <a:latin typeface="Microsoft YaHei"/>
              </a:rPr>
              <a:t>首次上线顺序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816352"/>
            <a:ext cx="484632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1. 配置客户端基础信息与 PLC 参数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2. 保存后测试 PLC 连接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3. 维护用户、通知与校验参数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4. 新增/导入易损件定义与换刀类型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5. 开启易损件监控并登录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6. 执行更换并查询历史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377440"/>
            <a:ext cx="53035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48716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14C"/>
                </a:solidFill>
                <a:latin typeface="Microsoft YaHei"/>
              </a:rPr>
              <a:t>日常运行顺序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16352"/>
            <a:ext cx="466344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1. 确认监控已开启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2. 操作员刷卡/工号登录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3. 选择易损件并核对寿命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4. 扫码或输入新条码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5. 确认更换，系统写入 PLC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6. 查看或导出更换记录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主界面功能说明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对应截图中的顶部标题区、左侧导航栏和右侧业务区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6629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612648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顶部标题区：显示 CATL 标识、系统名称、当前工号、权限/自动注销倒计时、软件版本。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登录/注销按钮：未登录时点击登录；登录后显示注销，用于退出当前用户会话。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左侧导航栏：按业务顺序进入易损件更换、设备基础信息、易损件管理、更换历史、用户配置。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右侧业务区：显示所选页面的表单、状态提示、表格和操作按钮。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状态提示条：用于提醒当前页面是否已加载、是否允许操作以及保存/导入/测试结果。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4297680" cy="516636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252728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14C"/>
                </a:solidFill>
                <a:latin typeface="Microsoft YaHei"/>
              </a:rPr>
              <a:t>使用原则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00200"/>
            <a:ext cx="3749039" cy="4434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首次进入先完成设备基础信息。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登录后再执行更换和受控操作。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看到按钮置灰时，先检查必填项、登录状态、监控状态和选中行。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运行中建议最小化到托盘，不要直接退出。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设备基础信息页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首次配置客户端信息，决定登录、PLC、监控和业务数据归属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07008"/>
          <a:ext cx="11201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区域/字段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使用要点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基地/工厂/区域/工序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标识设备组织与工序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影响登录、通知和附加校验规则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设备编号/资源号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定位当前设备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资源号是易损件定义和历史关联核心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PLC 类型/IP/端口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建立 PLC 通讯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保存后通过测试 PLC 连接验证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停机地址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寿命到期强制停机点位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启用强制停机前需现场确认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导入旧项目配置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迁移旧系统配置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选择旧版 SQLite 数据库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保存信息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保存当前客户端配置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仅有变更时可用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开启/关闭易损件监控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控制后台寿命监控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8314C"/>
                          </a:solidFill>
                          <a:latin typeface="Microsoft YaHei"/>
                        </a:rPr>
                        <a:t>未开启时更换页不允许操作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486400"/>
            <a:ext cx="10607040" cy="502920"/>
          </a:xfrm>
          <a:prstGeom prst="roundRect">
            <a:avLst/>
          </a:prstGeom>
          <a:solidFill>
            <a:srgbClr val="14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操作顺序：填写必填项 → 保存信息 → 测试 PLC 连接 → 开启易损件监控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登录与注销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对应截图中的登录弹窗和顶部用户卡片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6629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612648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点击右上角“登录”打开登录弹窗。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弹窗显示当前资源号和基地，先核对是否为当前机台。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默认使用刷卡器登录；按现场配置也可输入工号。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登录成功后顶部显示工号、权限等级和自动注销倒计时。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长时间无操作会自动注销；受保护页面需要重新登录。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点击“注销”可主动退出当前用户会话。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4297680" cy="516636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252728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14C"/>
                </a:solidFill>
                <a:latin typeface="Microsoft YaHei"/>
              </a:rPr>
              <a:t>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00200"/>
            <a:ext cx="3749039" cy="4434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未配置客户端信息时登录入口不可用。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刷卡/工号无法登录时，先检查资源号、基地、MHR 配置和用户权限。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退出后台程序通常需要已登录用户确认。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易损件更换页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核心生产操作：选择易损件、录入条码、写入 PLC 并记录历史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功能区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使用说明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当前资源号/刷新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确认当前设备并重新加载数据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PLC 或主数据变化后点击刷新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监控状态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显示是否允许操作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未开启监控时页面禁止更换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当前易损件概览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选择待更换易损件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选择后加载寿命、条码和历史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寿命阈值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显示当前/预警/停机寿命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异常时先排查 PLC 点位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条码规则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显示输入方式和长度限制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新条码必须符合规则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更换录入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录入原因、条码、备注和附加字段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满足校验后更换按钮可用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更换记录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显示当前易损件历史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更换成功后自动更新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更换按钮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执行写 PLC 和保存记录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8314C"/>
                          </a:solidFill>
                          <a:latin typeface="Microsoft YaHei"/>
                        </a:rPr>
                        <a:t>确认后立即生效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623560"/>
            <a:ext cx="10789920" cy="475488"/>
          </a:xfrm>
          <a:prstGeom prst="round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更换闭环：选择易损件 → 核对寿命 → 填写原因/条码 → 确认更换 → 写入 PLC → 生成历史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更换前校验逻辑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按钮置灰通常表示存在未满足的业务条件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6629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612648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必须已开启易损件监控。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必须选择有效易损件定义。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当前寿命、预警寿命、停机寿命必须可读取且格式有效。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必须选择更换原因。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新条码不能为空，并符合最小/最大长度限制。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需要工具编码校验的工序，必须选择工具编码。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切刀相关校验启用时，需填写膜卷号并选择毛刺结果。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涂布垫片校验启用时，需选择 A/B 面并通过接口规则。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4297680" cy="516636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252728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14C"/>
                </a:solidFill>
                <a:latin typeface="Microsoft YaHei"/>
              </a:rPr>
              <a:t>确认弹窗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00200"/>
            <a:ext cx="3749039" cy="4434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普通更换：确认新条码写入 PLC。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旧件回装：条码曾作为旧件出现时会提示风险。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达到预警寿命的旧件：系统再次提示当前寿命与阈值。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易损件管理页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维护当前资源号下的易损件定义和 PLC 寿命点位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按钮/字段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使用方式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易损件名称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按名称过滤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输入关键字后点击查询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查询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筛选当前列表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不会重新读取数据库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刷新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重新加载定义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多人维护或数据变化后使用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新增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打开添加弹窗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资源号有效时可用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编辑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修改选中定义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先选择一行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删除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删除选中或勾选定义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删除前二次确认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导入旧库易损件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迁移旧系统定义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选择旧版 SQLite 数据库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表格勾选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批量删除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表头可全选当前列表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定义表格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展示寿命地址/类型/条码规则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用于核对 PLC 点位配置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添加/编辑易损件弹窗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对应截图中的添加和编辑弹窗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6629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612648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资源号：自动带出当前设备资源号。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易损件名称：同一资源号下不可重复。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易损件类型：影响切刀、涂布等附加校验规则。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当前/预警/停机寿命地址：必须与 PLC 点位一致。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数据类型：需与 PLC 地址实际类型一致，例如 FLOAT。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寿命类型：记米、计次、计时。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寿命到期强制停机：达到停机阈值后写停机点位。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条码输入模式和长度：控制更换页新条码校验。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条码写入地址/附加清零地址：按现场 PLC 逻辑选填。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4297680" cy="516636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252728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14C"/>
                </a:solidFill>
                <a:latin typeface="Microsoft YaHei"/>
              </a:rPr>
              <a:t>保存逻辑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00200"/>
            <a:ext cx="3749039" cy="4434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新增：填写必填项后点击“添加易损件”。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编辑：选中行后修改并点击“保存修改”。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保存成功后回到列表刷新核对。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易损件更换历史页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查询、分页和导出当前资源号下的更换记录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6629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612648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刷新：重新加载易损件定义和历史记录。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易损件筛选：不选则查询全部，选择后只看该易损件记录。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查询：应用当前筛选条件。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导出：将当前筛选结果导出为 CSV 文件。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分页大小：支持 10、20、50、100 条。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页码跳转：输入大于 0 的页码后跳转。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4297680" cy="516636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252728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14C"/>
                </a:solidFill>
                <a:latin typeface="Microsoft YaHei"/>
              </a:rPr>
              <a:t>记录字段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00200"/>
            <a:ext cx="3749039" cy="4434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名称、当前编码、新编码。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当前寿命、预警寿命、停机寿命。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更换原因、更换时间。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更换人员、操作员工号、备注。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用户配置页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配置语言、自启动、负责人、COM 通知和校验接口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配置区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使用要点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切换简体中文/英文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保存后立即生效并作为后续启动默认语言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开机自启动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控制 Windows 自启动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保存后写入/移除自启动注册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ME/PRD 负责人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通知接收人与展示信息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测试通知至少需要一个负责人工号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COM 通知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预警/停机消息推送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AccessToken 和 Secret 属于敏感信息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预览测试通知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查看消息模板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不发送消息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测试 COM 通知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验证群消息和工作消息链路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有未保存变更时会先保存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垫片校验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涂布相关条码接口校验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配置接口、超时、分隔符和段数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切刀离线校验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切刀相关 MES 校验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启用后 MES 站点、地址、账号、密码必填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关闭主窗口与托盘运行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对应截图中的关闭确认框和托盘卡片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6629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612648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点击窗口关闭按钮时，系统询问是否最小化到托盘继续运行。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选择“是”：主窗口隐藏，后台监控继续运行。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选择“否”：退出程序，后台监控停止。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选择“取消”：返回主窗口。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托盘卡片显示当前用户、权限倒计时和软件版本。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可点击“恢复窗口”，也可双击托盘图标恢复主界面。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点击“退出程序”会执行退出确认；未登录时通常需要先登录。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4297680" cy="516636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252728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14C"/>
                </a:solidFill>
                <a:latin typeface="Microsoft YaHei"/>
              </a:rPr>
              <a:t>推荐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00200"/>
            <a:ext cx="3749039" cy="4434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产线运行中优先最小化到托盘。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维护、升级或停机时再退出程序。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退出前确认无保存、导入、测试或更换操作正在进行。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旧项目迁移流程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保留旧系统配置和易损件定义，减少现场重复录入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6629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612648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1. 进入“设备基础信息”。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2. 点击“导入旧项目配置”。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3. 选择旧版 SQLite 数据库。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4. 核对资源号、PLC 参数、MHR/MES 相关配置。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5. 保存并测试 PLC 连接。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6. 进入“易损件管理”。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7. 点击“导入旧库易损件”。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8. 导入完成后核对新增、更新、跳过数量。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9. 开启监控并执行测试更换。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4297680" cy="516636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252728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14C"/>
                </a:solidFill>
                <a:latin typeface="Microsoft YaHei"/>
              </a:rPr>
              <a:t>迁移后检查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00200"/>
            <a:ext cx="3749039" cy="4434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资源号是否正确。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易损件数量是否符合旧系统。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PLC 地址和数据类型是否可读。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登录、通知和校验配置是否可用。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现场上线检查清单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上线前建议逐项确认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6629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612648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设备基础信息：基地、工厂、区域、工序、设备编号、资源号已保存。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PLC 参数：类型、IP、端口、停机地址、机架/插槽配置正确。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PLC 测试：连接测试成功。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易损件定义：所有关键易损件已新增或导入，寿命点位正确。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换刀类型：需要校验的工序已维护工具编码。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用户配置：负责人、COM、垫片、切刀校验参数已保存。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监控状态：已开启易损件监控。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登录：现场账号可刷卡或工号登录。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闭环验证：执行一次测试更换，确认 PLC 写入和历史记录。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4297680" cy="516636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252728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14C"/>
                </a:solidFill>
                <a:latin typeface="Microsoft YaHei"/>
              </a:rPr>
              <a:t>通过标准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00200"/>
            <a:ext cx="3749039" cy="4434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更换按钮按条件正常启用。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更换成功后有历史记录。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异常通知可预览/测试。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托盘运行和恢复正常。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常见异常与处理建议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现场排障优先从配置、登录、监控、PLC 四个维度检查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现象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可能原因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处理建议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登录按钮置灰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客户端信息未配置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先完成设备基础信息保存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更换页禁止操作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易损件监控未开启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到设备基础信息页开启监控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PLC 测试不可用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必填项不完整或监控已开启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补齐信息；必要时先关闭监控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更换按钮置灰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条码/原因/附加校验不满足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按页面补齐必填字段并检查寿命值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无易损件列表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当前资源号未维护定义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新增或导入旧库易损件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导出按钮置灰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当前筛选无记录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刷新并查询有记录的数据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COM 测试失败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负责人或鉴权配置错误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核对负责人工号、Token/Secret 和网络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窗口消失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已最小化到托盘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8314C"/>
                          </a:solidFill>
                          <a:latin typeface="Microsoft YaHei"/>
                        </a:rPr>
                        <a:t>双击托盘图标或点恢复窗口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操作注意事项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确保生产数据、PLC 写入和追溯记录可靠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6629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612648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资源号是全系统核心字段，首次配置必须准确。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修改 PLC 参数前建议先关闭易损件监控，避免后台使用旧参数。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易损件定义中的 PLC 地址和数据类型必须与 PLC 程序一致。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启用强制停机前，应确认停机点位和现场停机策略。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COM、MES、垫片校验接口包含敏感信息，仅授权人员维护。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软件升级会保留用户数据和配置。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真实卸载会删除安装根目录及本地数据，卸载前请备份需要保留的信息。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18314C"/>
                </a:solidFill>
                <a:latin typeface="Microsoft YaHei"/>
              </a:rPr>
              <a:t>产线运行中建议托盘运行，不要随意退出程序。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143000"/>
            <a:ext cx="4297680" cy="516636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252728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314C"/>
                </a:solidFill>
                <a:latin typeface="Microsoft YaHei"/>
              </a:rPr>
              <a:t>敏感信息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00200"/>
            <a:ext cx="3749039" cy="4434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不要在截图、邮件、PPT 中明文传播 Token、Secret、密码。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交接文档只描述字段用途，不记录真实密钥。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18314C"/>
                </a:solidFill>
                <a:latin typeface="Microsoft YaHei"/>
              </a:rPr>
              <a:t>现场问题反馈需脱敏。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314C"/>
                </a:solidFill>
                <a:latin typeface="Microsoft YaHei"/>
              </a:rPr>
              <a:t>快速索引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17596"/>
                </a:solidFill>
                <a:latin typeface="Microsoft YaHei"/>
              </a:rPr>
              <a:t>按目的快速定位功能页面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234440"/>
          <a:ext cx="10607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我要做什么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进入页面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关键按钮/字段</a:t>
                      </a:r>
                    </a:p>
                  </a:txBody>
                  <a:tcPr>
                    <a:solidFill>
                      <a:srgbClr val="2467E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首次配置设备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设备基础信息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保存信息、测试 PLC 连接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登录操作员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右上角登录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刷卡/工号、登录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维护易损件定义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易损件管理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新增、编辑、删除、导入旧库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更换易损件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易损件更换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当前易损件、新条码、更换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查询记录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易损件更换历史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易损件筛选、查询、导出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配置通知/校验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用户配置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COM、垫片校验、切刀离线校验</a:t>
                      </a:r>
                    </a:p>
                  </a:txBody>
                  <a:tcPr>
                    <a:solidFill>
                      <a:srgbClr val="F7FB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后台运行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关闭窗口/托盘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314C"/>
                          </a:solidFill>
                          <a:latin typeface="Microsoft YaHei"/>
                        </a:rPr>
                        <a:t>是、恢复窗口、退出程序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914400"/>
            <a:ext cx="10515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8314C"/>
                </a:solidFill>
                <a:latin typeface="Microsoft YaHei"/>
              </a:rPr>
              <a:t>操作闭环总结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2514600"/>
            <a:ext cx="1143000" cy="566928"/>
          </a:xfrm>
          <a:prstGeom prst="round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配置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78608" y="2679192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24912" y="2514600"/>
            <a:ext cx="1143000" cy="566928"/>
          </a:xfrm>
          <a:prstGeom prst="roundRect">
            <a:avLst/>
          </a:prstGeom>
          <a:solidFill>
            <a:srgbClr val="14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测试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2679192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32504" y="2514600"/>
            <a:ext cx="1143000" cy="566928"/>
          </a:xfrm>
          <a:prstGeom prst="round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维护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93792" y="2679192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40096" y="2514600"/>
            <a:ext cx="1143000" cy="566928"/>
          </a:xfrm>
          <a:prstGeom prst="roundRect">
            <a:avLst/>
          </a:prstGeom>
          <a:solidFill>
            <a:srgbClr val="14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监控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01383" y="2679192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47688" y="2514600"/>
            <a:ext cx="1143000" cy="566928"/>
          </a:xfrm>
          <a:prstGeom prst="roundRect">
            <a:avLst/>
          </a:prstGeom>
          <a:solidFill>
            <a:srgbClr val="E88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登录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08975" y="2679192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2514600"/>
            <a:ext cx="1143000" cy="566928"/>
          </a:xfrm>
          <a:prstGeom prst="roundRect">
            <a:avLst/>
          </a:prstGeom>
          <a:solidFill>
            <a:srgbClr val="24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更换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16567" y="2679192"/>
            <a:ext cx="237744" cy="237744"/>
          </a:xfrm>
          <a:prstGeom prst="rightArrow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62872" y="2514600"/>
            <a:ext cx="1143000" cy="566928"/>
          </a:xfrm>
          <a:prstGeom prst="roundRect">
            <a:avLst/>
          </a:prstGeom>
          <a:solidFill>
            <a:srgbClr val="51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追溯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49039"/>
            <a:ext cx="813816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18314C"/>
                </a:solidFill>
                <a:latin typeface="Microsoft YaHei"/>
              </a:rPr>
              <a:t>先确保设备与 PLC 配置正确，再开启监控；操作员登录后完成更换，系统自动写入 PLC 并形成可追溯历史。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17596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